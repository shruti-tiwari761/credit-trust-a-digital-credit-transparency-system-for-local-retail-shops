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301" r:id="rId2"/>
    <p:sldId id="281" r:id="rId3"/>
    <p:sldId id="290" r:id="rId4"/>
    <p:sldId id="298" r:id="rId5"/>
    <p:sldId id="293" r:id="rId6"/>
    <p:sldId id="294" r:id="rId7"/>
    <p:sldId id="296" r:id="rId8"/>
    <p:sldId id="299" r:id="rId9"/>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328" userDrawn="1">
          <p15:clr>
            <a:srgbClr val="A4A3A4"/>
          </p15:clr>
        </p15:guide>
        <p15:guide id="2" pos="37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A7EBB"/>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34172-FAD8-4F0D-9FF5-29CC4DDAC4C2}" v="114" dt="2025-09-09T16:13:27.2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21" autoAdjust="0"/>
    <p:restoredTop sz="92218" autoAdjust="0"/>
  </p:normalViewPr>
  <p:slideViewPr>
    <p:cSldViewPr snapToGrid="0" snapToObjects="1">
      <p:cViewPr varScale="1">
        <p:scale>
          <a:sx n="78" d="100"/>
          <a:sy n="78" d="100"/>
        </p:scale>
        <p:origin x="672" y="77"/>
      </p:cViewPr>
      <p:guideLst>
        <p:guide orient="horz" pos="2328"/>
        <p:guide pos="3744"/>
      </p:guideLst>
    </p:cSldViewPr>
  </p:slideViewPr>
  <p:notesTextViewPr>
    <p:cViewPr>
      <p:scale>
        <a:sx n="100" d="100"/>
        <a:sy n="100" d="100"/>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5/6/2026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030C1-30B8-26CC-AC79-81B8F39E1B6A}"/>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3D5C13BF-F0E2-A960-F20D-8E1C592AC53D}"/>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9594A9FE-6C5B-B369-4CFD-A9A24B725546}"/>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B2A86CA3-047C-D495-0D72-5CC9DCD1E35D}"/>
              </a:ext>
            </a:extLst>
          </p:cNvPr>
          <p:cNvSpPr>
            <a:spLocks noGrp="1"/>
          </p:cNvSpPr>
          <p:nvPr>
            <p:ph type="sldNum" sz="quarter" idx="5"/>
          </p:nvPr>
        </p:nvSpPr>
        <p:spPr bwMode="auto">
          <a:noFill/>
          <a:ln>
            <a:miter lim="800000"/>
            <a:headEnd/>
            <a:tailEnd/>
          </a:ln>
        </p:spPr>
        <p:txBody>
          <a:bodyPr/>
          <a:lstStyle/>
          <a:p>
            <a:fld id="{0CA7B74D-3791-4AC6-8451-F10DBCCCDD9A}" type="slidenum">
              <a:rPr lang="en-US"/>
              <a:pPr/>
              <a:t>1</a:t>
            </a:fld>
            <a:endParaRPr lang="en-US"/>
          </a:p>
        </p:txBody>
      </p:sp>
    </p:spTree>
    <p:extLst>
      <p:ext uri="{BB962C8B-B14F-4D97-AF65-F5344CB8AC3E}">
        <p14:creationId xmlns:p14="http://schemas.microsoft.com/office/powerpoint/2010/main" val="23576910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pPr/>
              <a:t>5/6/2026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pPr/>
              <a:t>5/6/2026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pPr/>
              <a:t>5/6/2026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pPr/>
              <a:t>5/6/2026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pPr/>
              <a:t>5/6/2026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pPr/>
              <a:t>5/6/2026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pPr/>
              <a:t>5/6/2026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pPr/>
              <a:t>5/6/2026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www.researchgate.net/publication/400100801_KIRANA_40_Measuring_the_Impact_of_Phygital_Transformation_of_Small_Retailers_on_BOP_Consumer_Behaviou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BE0F6-721C-7B0F-ACE0-49D72F545EA5}"/>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000FC748-0347-EF47-A7FD-2CBEB8DF36AB}"/>
              </a:ext>
            </a:extLst>
          </p:cNvPr>
          <p:cNvSpPr>
            <a:spLocks noGrp="1"/>
          </p:cNvSpPr>
          <p:nvPr>
            <p:ph type="sldNum" sz="quarter" idx="12"/>
          </p:nvPr>
        </p:nvSpPr>
        <p:spPr/>
        <p:txBody>
          <a:bodyPr/>
          <a:lstStyle/>
          <a:p>
            <a:fld id="{677C3CE7-23F7-4828-823C-E0205DF2CF97}" type="slidenum">
              <a:rPr lang="en-US" b="1">
                <a:solidFill>
                  <a:schemeClr val="bg1"/>
                </a:solidFill>
              </a:rPr>
              <a:pPr/>
              <a:t>1</a:t>
            </a:fld>
            <a:endParaRPr lang="en-US" b="1" dirty="0">
              <a:solidFill>
                <a:schemeClr val="bg1"/>
              </a:solidFill>
            </a:endParaRPr>
          </a:p>
        </p:txBody>
      </p:sp>
      <p:sp>
        <p:nvSpPr>
          <p:cNvPr id="3" name="Title 7">
            <a:extLst>
              <a:ext uri="{FF2B5EF4-FFF2-40B4-BE49-F238E27FC236}">
                <a16:creationId xmlns:a16="http://schemas.microsoft.com/office/drawing/2014/main" id="{0A4CFB78-445E-0B34-46E2-EEAB8F687B93}"/>
              </a:ext>
            </a:extLst>
          </p:cNvPr>
          <p:cNvSpPr txBox="1">
            <a:spLocks/>
          </p:cNvSpPr>
          <p:nvPr/>
        </p:nvSpPr>
        <p:spPr bwMode="auto">
          <a:xfrm>
            <a:off x="-1" y="0"/>
            <a:ext cx="12192001" cy="1053548"/>
          </a:xfrm>
          <a:prstGeom prst="rect">
            <a:avLst/>
          </a:prstGeom>
          <a:ln w="9525" cap="flat" cmpd="sng" algn="ctr">
            <a:solidFill>
              <a:schemeClr val="accent1">
                <a:shade val="95000"/>
                <a:satMod val="105000"/>
              </a:schemeClr>
            </a:solidFill>
            <a:prstDash val="solid"/>
            <a:miter lim="800000"/>
            <a:headEnd/>
            <a:tailEnd/>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dk1"/>
                </a:solidFill>
                <a:latin typeface="+mn-lt"/>
                <a:ea typeface="+mn-ea"/>
                <a:cs typeface="+mn-cs"/>
              </a:defRPr>
            </a:lvl1pPr>
            <a:lvl2pPr algn="ctr" defTabSz="457200" rtl="0" eaLnBrk="0" fontAlgn="base" hangingPunct="0">
              <a:spcBef>
                <a:spcPct val="0"/>
              </a:spcBef>
              <a:spcAft>
                <a:spcPct val="0"/>
              </a:spcAft>
              <a:defRPr sz="4400">
                <a:solidFill>
                  <a:schemeClr val="dk1"/>
                </a:solidFill>
                <a:latin typeface="+mn-lt"/>
                <a:ea typeface="+mn-ea"/>
                <a:cs typeface="+mn-cs"/>
              </a:defRPr>
            </a:lvl2pPr>
            <a:lvl3pPr algn="ctr" defTabSz="457200" rtl="0" eaLnBrk="0" fontAlgn="base" hangingPunct="0">
              <a:spcBef>
                <a:spcPct val="0"/>
              </a:spcBef>
              <a:spcAft>
                <a:spcPct val="0"/>
              </a:spcAft>
              <a:defRPr sz="4400">
                <a:solidFill>
                  <a:schemeClr val="dk1"/>
                </a:solidFill>
                <a:latin typeface="+mn-lt"/>
                <a:ea typeface="+mn-ea"/>
                <a:cs typeface="+mn-cs"/>
              </a:defRPr>
            </a:lvl3pPr>
            <a:lvl4pPr algn="ctr" defTabSz="457200" rtl="0" eaLnBrk="0" fontAlgn="base" hangingPunct="0">
              <a:spcBef>
                <a:spcPct val="0"/>
              </a:spcBef>
              <a:spcAft>
                <a:spcPct val="0"/>
              </a:spcAft>
              <a:defRPr sz="4400">
                <a:solidFill>
                  <a:schemeClr val="dk1"/>
                </a:solidFill>
                <a:latin typeface="+mn-lt"/>
                <a:ea typeface="+mn-ea"/>
                <a:cs typeface="+mn-cs"/>
              </a:defRPr>
            </a:lvl4pPr>
            <a:lvl5pPr algn="ctr" defTabSz="457200" rtl="0" eaLnBrk="0" fontAlgn="base" hangingPunct="0">
              <a:spcBef>
                <a:spcPct val="0"/>
              </a:spcBef>
              <a:spcAft>
                <a:spcPct val="0"/>
              </a:spcAft>
              <a:defRPr sz="4400">
                <a:solidFill>
                  <a:schemeClr val="dk1"/>
                </a:solidFill>
                <a:latin typeface="+mn-lt"/>
                <a:ea typeface="+mn-ea"/>
                <a:cs typeface="+mn-cs"/>
              </a:defRPr>
            </a:lvl5pPr>
            <a:lvl6pPr marL="457200" algn="ctr" defTabSz="457200" rtl="0" fontAlgn="base">
              <a:spcBef>
                <a:spcPct val="0"/>
              </a:spcBef>
              <a:spcAft>
                <a:spcPct val="0"/>
              </a:spcAft>
              <a:defRPr sz="4400">
                <a:solidFill>
                  <a:schemeClr val="dk1"/>
                </a:solidFill>
                <a:latin typeface="+mn-lt"/>
                <a:ea typeface="+mn-ea"/>
                <a:cs typeface="+mn-cs"/>
              </a:defRPr>
            </a:lvl6pPr>
            <a:lvl7pPr marL="914400" algn="ctr" defTabSz="457200" rtl="0" fontAlgn="base">
              <a:spcBef>
                <a:spcPct val="0"/>
              </a:spcBef>
              <a:spcAft>
                <a:spcPct val="0"/>
              </a:spcAft>
              <a:defRPr sz="4400">
                <a:solidFill>
                  <a:schemeClr val="dk1"/>
                </a:solidFill>
                <a:latin typeface="+mn-lt"/>
                <a:ea typeface="+mn-ea"/>
                <a:cs typeface="+mn-cs"/>
              </a:defRPr>
            </a:lvl7pPr>
            <a:lvl8pPr marL="1371600" algn="ctr" defTabSz="457200" rtl="0" fontAlgn="base">
              <a:spcBef>
                <a:spcPct val="0"/>
              </a:spcBef>
              <a:spcAft>
                <a:spcPct val="0"/>
              </a:spcAft>
              <a:defRPr sz="4400">
                <a:solidFill>
                  <a:schemeClr val="dk1"/>
                </a:solidFill>
                <a:latin typeface="+mn-lt"/>
                <a:ea typeface="+mn-ea"/>
                <a:cs typeface="+mn-cs"/>
              </a:defRPr>
            </a:lvl8pPr>
            <a:lvl9pPr marL="1828800" algn="ctr" defTabSz="457200" rtl="0" fontAlgn="base">
              <a:spcBef>
                <a:spcPct val="0"/>
              </a:spcBef>
              <a:spcAft>
                <a:spcPct val="0"/>
              </a:spcAft>
              <a:defRPr sz="4400">
                <a:solidFill>
                  <a:schemeClr val="dk1"/>
                </a:solidFill>
                <a:latin typeface="+mn-lt"/>
                <a:ea typeface="+mn-ea"/>
                <a:cs typeface="+mn-cs"/>
              </a:defRPr>
            </a:lvl9pPr>
          </a:lstStyle>
          <a:p>
            <a:r>
              <a:rPr lang="en-IN" sz="4000" b="1">
                <a:solidFill>
                  <a:schemeClr val="tx2"/>
                </a:solidFill>
                <a:latin typeface="Garamond" panose="02020404030301010803" pitchFamily="18" charset="0"/>
              </a:rPr>
              <a:t>MAJOR PROJECT_II</a:t>
            </a:r>
            <a:endParaRPr lang="en-IN" sz="4000" b="1" dirty="0">
              <a:solidFill>
                <a:schemeClr val="tx2"/>
              </a:solidFill>
              <a:latin typeface="Garamond" panose="02020404030301010803" pitchFamily="18" charset="0"/>
            </a:endParaRPr>
          </a:p>
        </p:txBody>
      </p:sp>
      <p:sp>
        <p:nvSpPr>
          <p:cNvPr id="2" name="Rectangle: Rounded Corners 1">
            <a:extLst>
              <a:ext uri="{FF2B5EF4-FFF2-40B4-BE49-F238E27FC236}">
                <a16:creationId xmlns:a16="http://schemas.microsoft.com/office/drawing/2014/main" id="{14A1ABDB-3460-7FC3-7DB6-CF093EF23590}"/>
              </a:ext>
            </a:extLst>
          </p:cNvPr>
          <p:cNvSpPr/>
          <p:nvPr/>
        </p:nvSpPr>
        <p:spPr>
          <a:xfrm>
            <a:off x="709725" y="1464187"/>
            <a:ext cx="10772550" cy="1964813"/>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marR="0" lvl="0" algn="l" defTabSz="457200" rtl="0" eaLnBrk="1" fontAlgn="base" latinLnBrk="0" hangingPunct="1">
              <a:lnSpc>
                <a:spcPct val="100000"/>
              </a:lnSpc>
              <a:spcBef>
                <a:spcPct val="0"/>
              </a:spcBef>
              <a:spcAft>
                <a:spcPct val="0"/>
              </a:spcAft>
              <a:buClrTx/>
              <a:buSzTx/>
              <a:tabLst/>
              <a:defRPr/>
            </a:pPr>
            <a:endParaRPr kumimoji="0" lang="en-US" sz="2800" b="1"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Group Number </a:t>
            </a:r>
            <a:r>
              <a:rPr kumimoji="0" lang="en-US" sz="2800" b="0" i="0" u="none" strike="noStrike" kern="1200" cap="none" spc="0" normalizeH="0" baseline="0" noProof="0" dirty="0">
                <a:ln>
                  <a:noFill/>
                </a:ln>
                <a:solidFill>
                  <a:prstClr val="black"/>
                </a:solidFill>
                <a:effectLst/>
                <a:uLnTx/>
                <a:uFillTx/>
                <a:latin typeface="Calibri"/>
                <a:ea typeface="+mn-ea"/>
                <a:cs typeface="+mn-cs"/>
              </a:rPr>
              <a:t>– 17</a:t>
            </a:r>
          </a:p>
          <a:p>
            <a:pPr marL="457200" marR="0" lvl="0" indent="-45720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Project Title- </a:t>
            </a:r>
            <a:r>
              <a:rPr kumimoji="0" lang="en-US" sz="2800" b="0" i="0" u="none" strike="noStrike" kern="1200" cap="none" spc="0" normalizeH="0" baseline="0" noProof="0" dirty="0">
                <a:ln>
                  <a:noFill/>
                </a:ln>
                <a:solidFill>
                  <a:prstClr val="black"/>
                </a:solidFill>
                <a:effectLst/>
                <a:uLnTx/>
                <a:uFillTx/>
                <a:latin typeface="Calibri"/>
                <a:ea typeface="+mn-ea"/>
                <a:cs typeface="+mn-cs"/>
              </a:rPr>
              <a:t>Credit Trust: A Digital Credit  Transparency System for Local Retail Shops</a:t>
            </a:r>
          </a:p>
          <a:p>
            <a:pPr marL="457200" marR="0" lvl="0" indent="-45720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a:ea typeface="+mn-ea"/>
                <a:cs typeface="+mn-cs"/>
              </a:rPr>
              <a:t>SDG Goal – </a:t>
            </a:r>
            <a:r>
              <a:rPr kumimoji="0" lang="en-US" sz="2800" b="0" i="0" u="none" strike="noStrike" kern="1200" cap="none" spc="0" normalizeH="0" baseline="0" noProof="0" dirty="0">
                <a:ln>
                  <a:noFill/>
                </a:ln>
                <a:solidFill>
                  <a:prstClr val="black"/>
                </a:solidFill>
                <a:effectLst/>
                <a:uLnTx/>
                <a:uFillTx/>
                <a:latin typeface="Calibri"/>
                <a:ea typeface="+mn-ea"/>
                <a:cs typeface="+mn-cs"/>
              </a:rPr>
              <a:t>SDG 8 – Decent Work and Economic Growth</a:t>
            </a:r>
          </a:p>
          <a:p>
            <a:pPr algn="ctr"/>
            <a:endParaRPr lang="en-IN" dirty="0"/>
          </a:p>
        </p:txBody>
      </p:sp>
      <p:sp>
        <p:nvSpPr>
          <p:cNvPr id="4" name="Rectangle: Rounded Corners 3">
            <a:extLst>
              <a:ext uri="{FF2B5EF4-FFF2-40B4-BE49-F238E27FC236}">
                <a16:creationId xmlns:a16="http://schemas.microsoft.com/office/drawing/2014/main" id="{341A5164-3EA6-ED10-3D72-3D9A1EABB8A1}"/>
              </a:ext>
            </a:extLst>
          </p:cNvPr>
          <p:cNvSpPr/>
          <p:nvPr/>
        </p:nvSpPr>
        <p:spPr>
          <a:xfrm>
            <a:off x="847377" y="4308831"/>
            <a:ext cx="4491540" cy="2047522"/>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marL="457200" marR="0" lvl="0" indent="-457200" algn="l"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Team Members</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Shruti Tiwari   0187CS221189</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Siya </a:t>
            </a:r>
            <a:r>
              <a:rPr kumimoji="0" lang="en-US" sz="2400" b="0"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Gajbhiye</a:t>
            </a:r>
            <a:r>
              <a:rPr kumimoji="0" lang="en-US" sz="2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0187CS221192</a:t>
            </a:r>
          </a:p>
          <a:p>
            <a:pPr marL="0" marR="0" lvl="0" indent="0" algn="l" defTabSz="4572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Sitvat</a:t>
            </a:r>
            <a:r>
              <a:rPr kumimoji="0" lang="en-US" sz="2400" b="0"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Fatima   0187CS221191</a:t>
            </a:r>
          </a:p>
        </p:txBody>
      </p:sp>
      <p:sp>
        <p:nvSpPr>
          <p:cNvPr id="5" name="Rectangle: Rounded Corners 4">
            <a:extLst>
              <a:ext uri="{FF2B5EF4-FFF2-40B4-BE49-F238E27FC236}">
                <a16:creationId xmlns:a16="http://schemas.microsoft.com/office/drawing/2014/main" id="{1AC46AFA-ACB6-BC5F-E231-9D688B3E9A96}"/>
              </a:ext>
            </a:extLst>
          </p:cNvPr>
          <p:cNvSpPr/>
          <p:nvPr/>
        </p:nvSpPr>
        <p:spPr>
          <a:xfrm>
            <a:off x="6045855" y="4315488"/>
            <a:ext cx="5298768" cy="2034208"/>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4" name="TextBox 13">
            <a:extLst>
              <a:ext uri="{FF2B5EF4-FFF2-40B4-BE49-F238E27FC236}">
                <a16:creationId xmlns:a16="http://schemas.microsoft.com/office/drawing/2014/main" id="{CA889477-1F1C-5BE4-9064-CDCAD4A19C4A}"/>
              </a:ext>
            </a:extLst>
          </p:cNvPr>
          <p:cNvSpPr txBox="1"/>
          <p:nvPr/>
        </p:nvSpPr>
        <p:spPr>
          <a:xfrm>
            <a:off x="6283632" y="4485872"/>
            <a:ext cx="5298768" cy="1815882"/>
          </a:xfrm>
          <a:prstGeom prst="rect">
            <a:avLst/>
          </a:prstGeom>
          <a:noFill/>
        </p:spPr>
        <p:txBody>
          <a:bodyPr wrap="square">
            <a:spAutoFit/>
          </a:bodyPr>
          <a:lstStyle/>
          <a:p>
            <a:pPr marL="457200" indent="-457200">
              <a:buFont typeface="Arial" panose="020B0604020202020204" pitchFamily="34" charset="0"/>
              <a:buChar char="•"/>
            </a:pPr>
            <a:r>
              <a:rPr lang="en-US" sz="2800" b="1" dirty="0">
                <a:latin typeface="+mj-lt"/>
                <a:cs typeface="Arial" panose="020B0604020202020204" pitchFamily="34" charset="0"/>
              </a:rPr>
              <a:t>Guide </a:t>
            </a:r>
          </a:p>
          <a:p>
            <a:r>
              <a:rPr lang="en-US" sz="2800" dirty="0">
                <a:latin typeface="+mn-lt"/>
                <a:cs typeface="Arial" panose="020B0604020202020204" pitchFamily="34" charset="0"/>
              </a:rPr>
              <a:t>Dr. Komal Tahiliani</a:t>
            </a:r>
          </a:p>
          <a:p>
            <a:r>
              <a:rPr lang="en-US" sz="2800" dirty="0">
                <a:latin typeface="+mn-lt"/>
                <a:cs typeface="Arial" panose="020B0604020202020204" pitchFamily="34" charset="0"/>
              </a:rPr>
              <a:t>Department of Computer Science &amp; Engineering</a:t>
            </a:r>
          </a:p>
        </p:txBody>
      </p:sp>
    </p:spTree>
    <p:extLst>
      <p:ext uri="{BB962C8B-B14F-4D97-AF65-F5344CB8AC3E}">
        <p14:creationId xmlns:p14="http://schemas.microsoft.com/office/powerpoint/2010/main" val="1950211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37313" y="20266"/>
            <a:ext cx="11151704" cy="914400"/>
          </a:xfrm>
        </p:spPr>
        <p:txBody>
          <a:bodyPr/>
          <a:lstStyle/>
          <a:p>
            <a:pPr eaLnBrk="1" hangingPunct="1"/>
            <a:r>
              <a:rPr lang="en-US" sz="1200" dirty="0">
                <a:latin typeface="+mn-lt"/>
              </a:rPr>
              <a:t>                                         </a:t>
            </a:r>
            <a:r>
              <a:rPr lang="en-US" sz="3200" b="1" dirty="0">
                <a:latin typeface="+mn-lt"/>
                <a:cs typeface="Arial" panose="020B0604020202020204" pitchFamily="34" charset="0"/>
              </a:rPr>
              <a:t> </a:t>
            </a:r>
            <a:r>
              <a:rPr lang="en-US" sz="3200" b="1" dirty="0">
                <a:latin typeface="+mn-lt"/>
              </a:rPr>
              <a:t>Digital Credit Transparency System</a:t>
            </a:r>
            <a:endParaRPr lang="en-US" sz="3200" b="1" dirty="0">
              <a:latin typeface="+mn-lt"/>
              <a:ea typeface="ＭＳ Ｐゴシック" pitchFamily="1" charset="-128"/>
              <a:cs typeface="Arial" panose="020B0604020202020204"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sz="1600" b="1" smtClean="0">
                <a:solidFill>
                  <a:schemeClr val="bg1"/>
                </a:solidFill>
                <a:latin typeface="+mn-lt"/>
              </a:rPr>
              <a:pPr/>
              <a:t>2</a:t>
            </a:fld>
            <a:endParaRPr lang="en-US" sz="1600" b="1" dirty="0">
              <a:solidFill>
                <a:schemeClr val="bg1"/>
              </a:solidFill>
              <a:latin typeface="+mn-lt"/>
            </a:endParaRPr>
          </a:p>
        </p:txBody>
      </p:sp>
      <p:sp>
        <p:nvSpPr>
          <p:cNvPr id="3" name="AutoShape 2" descr="An illustration of a Conversational Image Recognition Chatbot system. On the left side, show a user uploading an image of a car to a smartphone. In the center, depict a deep learning model like MobileNetV2 or ResNet analyzing the image, with labeled objects like 'car' and 'luxury'. On the right, display the chatbot interface generating conversational responses using AI, such as 'This is a car' and 'Yes, this is a luxury car'. Use simple, clear icons and a friendly, approachable style to convey the integration of image recognition and NLP for interactive user experience.">
            <a:extLst>
              <a:ext uri="{FF2B5EF4-FFF2-40B4-BE49-F238E27FC236}">
                <a16:creationId xmlns:a16="http://schemas.microsoft.com/office/drawing/2014/main" id="{C8197CEA-3A38-DEAC-7E1C-F92437744ED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latin typeface="+mn-lt"/>
            </a:endParaRPr>
          </a:p>
        </p:txBody>
      </p:sp>
      <p:sp>
        <p:nvSpPr>
          <p:cNvPr id="8" name="TextBox 7">
            <a:extLst>
              <a:ext uri="{FF2B5EF4-FFF2-40B4-BE49-F238E27FC236}">
                <a16:creationId xmlns:a16="http://schemas.microsoft.com/office/drawing/2014/main" id="{C698602C-EBA8-954E-D912-818213BD5455}"/>
              </a:ext>
            </a:extLst>
          </p:cNvPr>
          <p:cNvSpPr txBox="1"/>
          <p:nvPr/>
        </p:nvSpPr>
        <p:spPr>
          <a:xfrm>
            <a:off x="1741449" y="725694"/>
            <a:ext cx="2898648" cy="725711"/>
          </a:xfrm>
          <a:prstGeom prst="rect">
            <a:avLst/>
          </a:prstGeom>
          <a:noFill/>
        </p:spPr>
        <p:txBody>
          <a:bodyPr wrap="square">
            <a:spAutoFit/>
          </a:bodyPr>
          <a:lstStyle/>
          <a:p>
            <a:pPr marL="0" indent="0" algn="l">
              <a:lnSpc>
                <a:spcPts val="5550"/>
              </a:lnSpc>
              <a:buNone/>
            </a:pPr>
            <a:r>
              <a:rPr lang="en-US" sz="2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mn-lt"/>
                <a:ea typeface="Barlow Bold" pitchFamily="34" charset="-122"/>
                <a:cs typeface="Barlow Bold" pitchFamily="34" charset="-120"/>
              </a:rPr>
              <a:t> </a:t>
            </a:r>
            <a:r>
              <a:rPr lang="en-US" sz="2800" b="1" dirty="0">
                <a:ln w="12700">
                  <a:solidFill>
                    <a:schemeClr val="accent1"/>
                  </a:solidFill>
                  <a:prstDash val="solid"/>
                </a:ln>
                <a:effectLst>
                  <a:outerShdw dist="38100" dir="2640000" algn="bl" rotWithShape="0">
                    <a:schemeClr val="accent1"/>
                  </a:outerShdw>
                </a:effectLst>
                <a:latin typeface="+mn-lt"/>
                <a:ea typeface="Barlow Bold" pitchFamily="34" charset="-122"/>
                <a:cs typeface="Barlow Bold" pitchFamily="34" charset="-120"/>
              </a:rPr>
              <a:t>Faced Challenges  </a:t>
            </a:r>
            <a:endParaRPr lang="en-US" sz="2800" b="1" dirty="0">
              <a:ln w="12700">
                <a:solidFill>
                  <a:schemeClr val="accent1"/>
                </a:solidFill>
                <a:prstDash val="solid"/>
              </a:ln>
              <a:effectLst>
                <a:outerShdw dist="38100" dir="2640000" algn="bl" rotWithShape="0">
                  <a:schemeClr val="accent1"/>
                </a:outerShdw>
              </a:effectLst>
              <a:latin typeface="+mn-lt"/>
            </a:endParaRPr>
          </a:p>
        </p:txBody>
      </p:sp>
      <p:sp>
        <p:nvSpPr>
          <p:cNvPr id="11" name="Rectangle: Rounded Corners 10">
            <a:extLst>
              <a:ext uri="{FF2B5EF4-FFF2-40B4-BE49-F238E27FC236}">
                <a16:creationId xmlns:a16="http://schemas.microsoft.com/office/drawing/2014/main" id="{515E76D6-7152-3724-91B5-7C4835171668}"/>
              </a:ext>
            </a:extLst>
          </p:cNvPr>
          <p:cNvSpPr/>
          <p:nvPr/>
        </p:nvSpPr>
        <p:spPr>
          <a:xfrm>
            <a:off x="182998" y="1586036"/>
            <a:ext cx="6065402" cy="459607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r>
              <a:rPr lang="en-US" sz="2000" b="1" dirty="0"/>
              <a:t>1.Manual Credit Record Errors :</a:t>
            </a:r>
            <a:r>
              <a:rPr lang="en-US" sz="2000" dirty="0"/>
              <a:t>Maintaining </a:t>
            </a:r>
            <a:r>
              <a:rPr lang="en-US" sz="2000" dirty="0" err="1"/>
              <a:t>udhar</a:t>
            </a:r>
            <a:r>
              <a:rPr lang="en-US" sz="2000" dirty="0"/>
              <a:t> in paper registers leads to calculation mistakes and missing entries.</a:t>
            </a:r>
          </a:p>
          <a:p>
            <a:r>
              <a:rPr lang="en-US" sz="2000" b="1" dirty="0"/>
              <a:t>2. Difficulty in Recovering Credit Payments: </a:t>
            </a:r>
            <a:r>
              <a:rPr lang="en-US" sz="2000" dirty="0"/>
              <a:t>Improper or unclear records make it difficult for shopkeepers to recover full payment from customers.</a:t>
            </a:r>
          </a:p>
          <a:p>
            <a:r>
              <a:rPr lang="en-US" sz="2000" b="1" dirty="0"/>
              <a:t>3. Mismanagement of Supplier Bills : </a:t>
            </a:r>
            <a:r>
              <a:rPr lang="en-US" sz="2000" dirty="0"/>
              <a:t>Bills from different suppliers often get mixed up or lost, causing confusion in expense tracking.</a:t>
            </a:r>
          </a:p>
          <a:p>
            <a:r>
              <a:rPr lang="en-US" sz="2000" b="1" dirty="0"/>
              <a:t>4. Risk of Record Loss or Damage : </a:t>
            </a:r>
            <a:r>
              <a:rPr lang="en-US" sz="2000" dirty="0"/>
              <a:t>Paper-based records can be easily lost, damaged, or misplaced, resulting in permanent data loss.</a:t>
            </a:r>
            <a:endParaRPr lang="en-IN" sz="2000" dirty="0"/>
          </a:p>
        </p:txBody>
      </p:sp>
      <p:sp>
        <p:nvSpPr>
          <p:cNvPr id="16" name="Rectangle 3">
            <a:extLst>
              <a:ext uri="{FF2B5EF4-FFF2-40B4-BE49-F238E27FC236}">
                <a16:creationId xmlns:a16="http://schemas.microsoft.com/office/drawing/2014/main" id="{9DE2D3DC-56C7-8941-FE2F-3C7806570FDA}"/>
              </a:ext>
            </a:extLst>
          </p:cNvPr>
          <p:cNvSpPr>
            <a:spLocks noChangeArrowheads="1"/>
          </p:cNvSpPr>
          <p:nvPr/>
        </p:nvSpPr>
        <p:spPr bwMode="auto">
          <a:xfrm>
            <a:off x="452628" y="2789630"/>
            <a:ext cx="58841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effectLst/>
                <a:latin typeface="+mn-lt"/>
              </a:rPr>
              <a:t>.</a:t>
            </a:r>
          </a:p>
        </p:txBody>
      </p:sp>
      <p:sp>
        <p:nvSpPr>
          <p:cNvPr id="17" name="Rectangle 4">
            <a:extLst>
              <a:ext uri="{FF2B5EF4-FFF2-40B4-BE49-F238E27FC236}">
                <a16:creationId xmlns:a16="http://schemas.microsoft.com/office/drawing/2014/main" id="{54AA759C-E51C-C50C-0C05-9DB9BD977AA2}"/>
              </a:ext>
            </a:extLst>
          </p:cNvPr>
          <p:cNvSpPr>
            <a:spLocks noChangeArrowheads="1"/>
          </p:cNvSpPr>
          <p:nvPr/>
        </p:nvSpPr>
        <p:spPr bwMode="auto">
          <a:xfrm>
            <a:off x="394598" y="3468983"/>
            <a:ext cx="6335386" cy="35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effectLst/>
              <a:latin typeface="+mn-lt"/>
            </a:endParaRPr>
          </a:p>
        </p:txBody>
      </p:sp>
      <p:sp>
        <p:nvSpPr>
          <p:cNvPr id="22" name="Rectangle: Rounded Corners 21">
            <a:extLst>
              <a:ext uri="{FF2B5EF4-FFF2-40B4-BE49-F238E27FC236}">
                <a16:creationId xmlns:a16="http://schemas.microsoft.com/office/drawing/2014/main" id="{E00B7A9D-E274-8C9B-AD3C-3B539F157258}"/>
              </a:ext>
            </a:extLst>
          </p:cNvPr>
          <p:cNvSpPr/>
          <p:nvPr/>
        </p:nvSpPr>
        <p:spPr>
          <a:xfrm>
            <a:off x="6505076" y="1663576"/>
            <a:ext cx="5503926" cy="456207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endParaRPr lang="en-IN" sz="1700" dirty="0"/>
          </a:p>
        </p:txBody>
      </p:sp>
      <p:sp>
        <p:nvSpPr>
          <p:cNvPr id="24" name="TextBox 23">
            <a:extLst>
              <a:ext uri="{FF2B5EF4-FFF2-40B4-BE49-F238E27FC236}">
                <a16:creationId xmlns:a16="http://schemas.microsoft.com/office/drawing/2014/main" id="{8EF5EE85-A3B5-95C9-6162-C8D296C218AB}"/>
              </a:ext>
            </a:extLst>
          </p:cNvPr>
          <p:cNvSpPr txBox="1"/>
          <p:nvPr/>
        </p:nvSpPr>
        <p:spPr>
          <a:xfrm>
            <a:off x="7484747" y="749176"/>
            <a:ext cx="2898647" cy="712183"/>
          </a:xfrm>
          <a:prstGeom prst="rect">
            <a:avLst/>
          </a:prstGeom>
          <a:noFill/>
        </p:spPr>
        <p:txBody>
          <a:bodyPr wrap="square">
            <a:spAutoFit/>
          </a:bodyPr>
          <a:lstStyle/>
          <a:p>
            <a:pPr marL="0" indent="0" algn="l">
              <a:lnSpc>
                <a:spcPts val="5550"/>
              </a:lnSpc>
              <a:buNone/>
            </a:pPr>
            <a:r>
              <a:rPr lang="en-US" sz="2400" b="1" dirty="0">
                <a:ln w="12700">
                  <a:solidFill>
                    <a:schemeClr val="accent1"/>
                  </a:solidFill>
                  <a:prstDash val="solid"/>
                </a:ln>
                <a:effectLst>
                  <a:outerShdw dist="38100" dir="2640000" algn="bl" rotWithShape="0">
                    <a:schemeClr val="accent1"/>
                  </a:outerShdw>
                </a:effectLst>
                <a:latin typeface="+mn-lt"/>
                <a:ea typeface="Barlow Bold" pitchFamily="34" charset="-122"/>
              </a:rPr>
              <a:t>Proposed Solution  </a:t>
            </a:r>
            <a:endParaRPr lang="en-US" sz="2400" b="1" dirty="0">
              <a:ln w="12700">
                <a:solidFill>
                  <a:schemeClr val="accent1"/>
                </a:solidFill>
                <a:prstDash val="solid"/>
              </a:ln>
              <a:effectLst>
                <a:outerShdw dist="38100" dir="2640000" algn="bl" rotWithShape="0">
                  <a:schemeClr val="accent1"/>
                </a:outerShdw>
              </a:effectLst>
              <a:latin typeface="+mn-lt"/>
            </a:endParaRPr>
          </a:p>
        </p:txBody>
      </p:sp>
      <p:sp>
        <p:nvSpPr>
          <p:cNvPr id="4" name="TextBox 3">
            <a:extLst>
              <a:ext uri="{FF2B5EF4-FFF2-40B4-BE49-F238E27FC236}">
                <a16:creationId xmlns:a16="http://schemas.microsoft.com/office/drawing/2014/main" id="{A04A401C-A273-9021-841A-868855E1316C}"/>
              </a:ext>
            </a:extLst>
          </p:cNvPr>
          <p:cNvSpPr txBox="1"/>
          <p:nvPr/>
        </p:nvSpPr>
        <p:spPr>
          <a:xfrm>
            <a:off x="6505076" y="2145135"/>
            <a:ext cx="5380718" cy="3477875"/>
          </a:xfrm>
          <a:prstGeom prst="rect">
            <a:avLst/>
          </a:prstGeom>
          <a:noFill/>
        </p:spPr>
        <p:txBody>
          <a:bodyPr wrap="square">
            <a:spAutoFit/>
          </a:bodyPr>
          <a:lstStyle/>
          <a:p>
            <a:pPr marL="285750" indent="-285750">
              <a:buFont typeface="Wingdings" panose="05000000000000000000" pitchFamily="2" charset="2"/>
              <a:buChar char="Ø"/>
            </a:pPr>
            <a:r>
              <a:rPr lang="en-US" sz="2000" dirty="0">
                <a:latin typeface="+mn-lt"/>
              </a:rPr>
              <a:t>Smart mobile application for digital credit and shop management.</a:t>
            </a:r>
          </a:p>
          <a:p>
            <a:pPr marL="285750" indent="-285750">
              <a:buFont typeface="Wingdings" panose="05000000000000000000" pitchFamily="2" charset="2"/>
              <a:buChar char="Ø"/>
            </a:pPr>
            <a:r>
              <a:rPr lang="en-US" sz="2000" dirty="0">
                <a:latin typeface="+mn-lt"/>
              </a:rPr>
              <a:t>Shopkeeper can add customers, record </a:t>
            </a:r>
            <a:r>
              <a:rPr lang="en-US" sz="2000" dirty="0" err="1">
                <a:latin typeface="+mn-lt"/>
              </a:rPr>
              <a:t>udhari</a:t>
            </a:r>
            <a:r>
              <a:rPr lang="en-US" sz="2000" dirty="0">
                <a:latin typeface="+mn-lt"/>
              </a:rPr>
              <a:t>, and store supplier bills digitally.</a:t>
            </a:r>
          </a:p>
          <a:p>
            <a:pPr marL="285750" indent="-285750">
              <a:buFont typeface="Wingdings" panose="05000000000000000000" pitchFamily="2" charset="2"/>
              <a:buChar char="Ø"/>
            </a:pPr>
            <a:r>
              <a:rPr lang="en-US" sz="2000" dirty="0">
                <a:latin typeface="+mn-lt"/>
              </a:rPr>
              <a:t>Firebase database securely stores all records and transaction history.</a:t>
            </a:r>
          </a:p>
          <a:p>
            <a:pPr marL="285750" indent="-285750">
              <a:buFont typeface="Wingdings" panose="05000000000000000000" pitchFamily="2" charset="2"/>
              <a:buChar char="Ø"/>
            </a:pPr>
            <a:r>
              <a:rPr lang="en-US" sz="2000" dirty="0">
                <a:latin typeface="+mn-lt"/>
              </a:rPr>
              <a:t>Customers can view their credit records anytime and raise flags if any issue is found.</a:t>
            </a:r>
          </a:p>
          <a:p>
            <a:pPr marL="285750" indent="-285750">
              <a:buFont typeface="Wingdings" panose="05000000000000000000" pitchFamily="2" charset="2"/>
              <a:buChar char="Ø"/>
            </a:pPr>
            <a:r>
              <a:rPr lang="en-US" sz="2000" dirty="0">
                <a:latin typeface="+mn-lt"/>
              </a:rPr>
              <a:t>Provides real-time tracking, secure storage, and transparency between shopkeeper and customer</a:t>
            </a:r>
            <a:r>
              <a:rPr lang="en-US"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ntUML Diagram">
            <a:extLst>
              <a:ext uri="{FF2B5EF4-FFF2-40B4-BE49-F238E27FC236}">
                <a16:creationId xmlns:a16="http://schemas.microsoft.com/office/drawing/2014/main" id="{7F29D976-71CE-E280-4929-F11301236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9392" y="901035"/>
            <a:ext cx="4016066" cy="520715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6" name="Slide Number Placeholder 5"/>
          <p:cNvSpPr>
            <a:spLocks noGrp="1"/>
          </p:cNvSpPr>
          <p:nvPr>
            <p:ph type="sldNum" sz="quarter" idx="12"/>
          </p:nvPr>
        </p:nvSpPr>
        <p:spPr/>
        <p:txBody>
          <a:bodyPr/>
          <a:lstStyle/>
          <a:p>
            <a:fld id="{677C3CE7-23F7-4828-823C-E0205DF2CF97}" type="slidenum">
              <a:rPr lang="en-US" sz="1800" b="1">
                <a:solidFill>
                  <a:schemeClr val="bg1"/>
                </a:solidFill>
              </a:rPr>
              <a:pPr/>
              <a:t>3</a:t>
            </a:fld>
            <a:endParaRPr lang="en-US" sz="1800" b="1" dirty="0">
              <a:solidFill>
                <a:schemeClr val="bg1"/>
              </a:solidFill>
            </a:endParaRPr>
          </a:p>
        </p:txBody>
      </p:sp>
      <p:sp>
        <p:nvSpPr>
          <p:cNvPr id="5" name="TextBox 4">
            <a:extLst>
              <a:ext uri="{FF2B5EF4-FFF2-40B4-BE49-F238E27FC236}">
                <a16:creationId xmlns:a16="http://schemas.microsoft.com/office/drawing/2014/main" id="{768BF647-57F8-7CB3-D4B2-4E3DB6C8BD82}"/>
              </a:ext>
            </a:extLst>
          </p:cNvPr>
          <p:cNvSpPr txBox="1"/>
          <p:nvPr/>
        </p:nvSpPr>
        <p:spPr>
          <a:xfrm>
            <a:off x="521208" y="749808"/>
            <a:ext cx="1792478" cy="400110"/>
          </a:xfrm>
          <a:prstGeom prst="rect">
            <a:avLst/>
          </a:prstGeom>
          <a:noFill/>
        </p:spPr>
        <p:txBody>
          <a:bodyPr wrap="none" rtlCol="0">
            <a:spAutoFit/>
          </a:bodyPr>
          <a:lstStyle/>
          <a:p>
            <a:r>
              <a:rPr lang="en-US" sz="2000" b="1" dirty="0">
                <a:latin typeface="Montserrat" panose="00000500000000000000" pitchFamily="2" charset="0"/>
              </a:rPr>
              <a:t>Flow Chart :</a:t>
            </a:r>
            <a:endParaRPr lang="en-IN" sz="2000" b="1" dirty="0">
              <a:latin typeface="Montserrat" panose="00000500000000000000" pitchFamily="2" charset="0"/>
            </a:endParaRPr>
          </a:p>
        </p:txBody>
      </p:sp>
      <p:sp>
        <p:nvSpPr>
          <p:cNvPr id="9" name="TextBox 8">
            <a:extLst>
              <a:ext uri="{FF2B5EF4-FFF2-40B4-BE49-F238E27FC236}">
                <a16:creationId xmlns:a16="http://schemas.microsoft.com/office/drawing/2014/main" id="{5E4AF8AE-882D-9A5E-FD16-5162569E5BC4}"/>
              </a:ext>
            </a:extLst>
          </p:cNvPr>
          <p:cNvSpPr txBox="1"/>
          <p:nvPr/>
        </p:nvSpPr>
        <p:spPr>
          <a:xfrm>
            <a:off x="5741415" y="749808"/>
            <a:ext cx="2800767" cy="400110"/>
          </a:xfrm>
          <a:prstGeom prst="rect">
            <a:avLst/>
          </a:prstGeom>
          <a:noFill/>
        </p:spPr>
        <p:txBody>
          <a:bodyPr wrap="none" rtlCol="0">
            <a:spAutoFit/>
          </a:bodyPr>
          <a:lstStyle/>
          <a:p>
            <a:r>
              <a:rPr lang="en-US" sz="2000" b="1" dirty="0">
                <a:latin typeface="Montserrat" panose="00000500000000000000" pitchFamily="2" charset="0"/>
              </a:rPr>
              <a:t>Technology Stack : </a:t>
            </a:r>
            <a:endParaRPr lang="en-IN" sz="2000" b="1" dirty="0">
              <a:latin typeface="Montserrat" panose="00000500000000000000" pitchFamily="2" charset="0"/>
            </a:endParaRPr>
          </a:p>
        </p:txBody>
      </p:sp>
      <p:pic>
        <p:nvPicPr>
          <p:cNvPr id="4" name="Picture 3">
            <a:extLst>
              <a:ext uri="{FF2B5EF4-FFF2-40B4-BE49-F238E27FC236}">
                <a16:creationId xmlns:a16="http://schemas.microsoft.com/office/drawing/2014/main" id="{0A5BA2D7-D1ED-59A3-A917-40F02F226094}"/>
              </a:ext>
            </a:extLst>
          </p:cNvPr>
          <p:cNvPicPr>
            <a:picLocks noChangeAspect="1"/>
          </p:cNvPicPr>
          <p:nvPr/>
        </p:nvPicPr>
        <p:blipFill>
          <a:blip r:embed="rId4"/>
          <a:stretch>
            <a:fillRect/>
          </a:stretch>
        </p:blipFill>
        <p:spPr>
          <a:xfrm>
            <a:off x="5656394" y="1304664"/>
            <a:ext cx="6162411" cy="48953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D589-BF49-009E-80DC-5C57FE3C333E}"/>
              </a:ext>
            </a:extLst>
          </p:cNvPr>
          <p:cNvSpPr>
            <a:spLocks noGrp="1"/>
          </p:cNvSpPr>
          <p:nvPr>
            <p:ph type="title"/>
          </p:nvPr>
        </p:nvSpPr>
        <p:spPr>
          <a:xfrm>
            <a:off x="609600" y="0"/>
            <a:ext cx="10972800" cy="972050"/>
          </a:xfrm>
        </p:spPr>
        <p:txBody>
          <a:bodyPr/>
          <a:lstStyle/>
          <a:p>
            <a:br>
              <a:rPr lang="en-US" b="1" dirty="0">
                <a:solidFill>
                  <a:srgbClr val="152D47"/>
                </a:solidFill>
                <a:latin typeface="Barlow Bold" pitchFamily="34" charset="0"/>
                <a:ea typeface="Barlow Bold" pitchFamily="34" charset="-122"/>
                <a:cs typeface="Barlow Bold" pitchFamily="34" charset="-120"/>
              </a:rPr>
            </a:br>
            <a:r>
              <a:rPr lang="en-US" b="1" dirty="0">
                <a:solidFill>
                  <a:srgbClr val="152D47"/>
                </a:solidFill>
                <a:latin typeface="Barlow Bold" pitchFamily="34" charset="0"/>
                <a:ea typeface="Barlow Bold" pitchFamily="34" charset="-122"/>
                <a:cs typeface="Barlow Bold" pitchFamily="34" charset="-120"/>
              </a:rPr>
              <a:t> </a:t>
            </a:r>
            <a:r>
              <a:rPr lang="en-US" b="1" dirty="0"/>
              <a:t>Modules Used in the Project</a:t>
            </a:r>
            <a:br>
              <a:rPr lang="en-US" dirty="0"/>
            </a:br>
            <a:endParaRPr lang="en-IN" dirty="0"/>
          </a:p>
        </p:txBody>
      </p:sp>
      <p:sp>
        <p:nvSpPr>
          <p:cNvPr id="5" name="Slide Number Placeholder 4">
            <a:extLst>
              <a:ext uri="{FF2B5EF4-FFF2-40B4-BE49-F238E27FC236}">
                <a16:creationId xmlns:a16="http://schemas.microsoft.com/office/drawing/2014/main" id="{9A1436E4-A35F-CF8D-4980-1A3D7427CEE8}"/>
              </a:ext>
            </a:extLst>
          </p:cNvPr>
          <p:cNvSpPr>
            <a:spLocks noGrp="1"/>
          </p:cNvSpPr>
          <p:nvPr>
            <p:ph type="sldNum" sz="quarter" idx="12"/>
          </p:nvPr>
        </p:nvSpPr>
        <p:spPr/>
        <p:txBody>
          <a:bodyPr/>
          <a:lstStyle/>
          <a:p>
            <a:fld id="{677C3CE7-23F7-4828-823C-E0205DF2CF97}" type="slidenum">
              <a:rPr lang="en-US" smtClean="0"/>
              <a:pPr/>
              <a:t>4</a:t>
            </a:fld>
            <a:endParaRPr lang="en-US"/>
          </a:p>
        </p:txBody>
      </p:sp>
      <p:sp>
        <p:nvSpPr>
          <p:cNvPr id="6" name="Rectangle: Rounded Corners 5">
            <a:extLst>
              <a:ext uri="{FF2B5EF4-FFF2-40B4-BE49-F238E27FC236}">
                <a16:creationId xmlns:a16="http://schemas.microsoft.com/office/drawing/2014/main" id="{E2228FBD-3555-6FC4-A900-2834A9A9F5E1}"/>
              </a:ext>
            </a:extLst>
          </p:cNvPr>
          <p:cNvSpPr/>
          <p:nvPr/>
        </p:nvSpPr>
        <p:spPr>
          <a:xfrm>
            <a:off x="375557" y="1212912"/>
            <a:ext cx="6074229" cy="493185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buNone/>
            </a:pPr>
            <a:endParaRPr lang="en-US" dirty="0">
              <a:solidFill>
                <a:srgbClr val="4C4C4D"/>
              </a:solidFill>
              <a:latin typeface="Montserrat" pitchFamily="34" charset="0"/>
              <a:ea typeface="Montserrat" pitchFamily="34" charset="-122"/>
              <a:cs typeface="Montserrat" pitchFamily="34" charset="-120"/>
            </a:endParaRPr>
          </a:p>
          <a:p>
            <a:pPr marL="0" indent="0" algn="just">
              <a:buNone/>
            </a:pPr>
            <a:endParaRPr lang="en-US" dirty="0">
              <a:solidFill>
                <a:srgbClr val="4C4C4D"/>
              </a:solidFill>
              <a:latin typeface="Montserrat" pitchFamily="34" charset="0"/>
              <a:ea typeface="Montserrat" pitchFamily="34" charset="-122"/>
              <a:cs typeface="Montserrat" pitchFamily="34" charset="-120"/>
            </a:endParaRPr>
          </a:p>
          <a:p>
            <a:pPr marL="0" indent="0" algn="just">
              <a:buNone/>
            </a:pPr>
            <a:endParaRPr lang="en-US" dirty="0">
              <a:solidFill>
                <a:srgbClr val="4C4C4D"/>
              </a:solidFill>
              <a:latin typeface="Montserrat" pitchFamily="34" charset="0"/>
              <a:ea typeface="Montserrat" pitchFamily="34" charset="-122"/>
              <a:cs typeface="Montserrat" pitchFamily="34" charset="-120"/>
            </a:endParaRPr>
          </a:p>
          <a:p>
            <a:pPr marL="0" indent="0">
              <a:buNone/>
            </a:pPr>
            <a:endParaRPr lang="en-US" dirty="0">
              <a:solidFill>
                <a:srgbClr val="4C4C4D"/>
              </a:solidFill>
              <a:latin typeface="Montserrat" pitchFamily="34" charset="0"/>
            </a:endParaRPr>
          </a:p>
          <a:p>
            <a:pPr marL="0" indent="0">
              <a:buNone/>
            </a:pPr>
            <a:endParaRPr lang="en-US" dirty="0"/>
          </a:p>
          <a:p>
            <a:pPr marL="0" indent="0">
              <a:buNone/>
            </a:pPr>
            <a:endParaRPr lang="en-IN" dirty="0"/>
          </a:p>
        </p:txBody>
      </p:sp>
      <p:sp>
        <p:nvSpPr>
          <p:cNvPr id="8" name="Text 2">
            <a:extLst>
              <a:ext uri="{FF2B5EF4-FFF2-40B4-BE49-F238E27FC236}">
                <a16:creationId xmlns:a16="http://schemas.microsoft.com/office/drawing/2014/main" id="{A2C5085B-56DE-B7B5-8A16-FB58F6F4896C}"/>
              </a:ext>
            </a:extLst>
          </p:cNvPr>
          <p:cNvSpPr/>
          <p:nvPr/>
        </p:nvSpPr>
        <p:spPr>
          <a:xfrm>
            <a:off x="1246180" y="3458221"/>
            <a:ext cx="2612708" cy="326469"/>
          </a:xfrm>
          <a:prstGeom prst="rect">
            <a:avLst/>
          </a:prstGeom>
          <a:noFill/>
          <a:ln/>
        </p:spPr>
        <p:txBody>
          <a:bodyPr wrap="none" lIns="0" tIns="0" rIns="0" bIns="0" rtlCol="0" anchor="t"/>
          <a:lstStyle/>
          <a:p>
            <a:pPr marL="0" indent="0" algn="l">
              <a:lnSpc>
                <a:spcPts val="2550"/>
              </a:lnSpc>
              <a:buNone/>
            </a:pPr>
            <a:endParaRPr lang="en-US" sz="2050" dirty="0">
              <a:latin typeface="+mn-lt"/>
            </a:endParaRPr>
          </a:p>
        </p:txBody>
      </p:sp>
      <p:sp>
        <p:nvSpPr>
          <p:cNvPr id="12" name="Text 6">
            <a:extLst>
              <a:ext uri="{FF2B5EF4-FFF2-40B4-BE49-F238E27FC236}">
                <a16:creationId xmlns:a16="http://schemas.microsoft.com/office/drawing/2014/main" id="{7578EC2F-5681-7899-10E6-8D99628C2588}"/>
              </a:ext>
            </a:extLst>
          </p:cNvPr>
          <p:cNvSpPr/>
          <p:nvPr/>
        </p:nvSpPr>
        <p:spPr>
          <a:xfrm>
            <a:off x="1315712" y="4670511"/>
            <a:ext cx="2612708" cy="326469"/>
          </a:xfrm>
          <a:prstGeom prst="rect">
            <a:avLst/>
          </a:prstGeom>
          <a:noFill/>
          <a:ln/>
        </p:spPr>
        <p:txBody>
          <a:bodyPr wrap="none" lIns="0" tIns="0" rIns="0" bIns="0" rtlCol="0" anchor="t"/>
          <a:lstStyle/>
          <a:p>
            <a:pPr marL="0" indent="0" algn="l">
              <a:lnSpc>
                <a:spcPts val="2550"/>
              </a:lnSpc>
              <a:buNone/>
            </a:pPr>
            <a:endParaRPr lang="en-US" sz="2050" dirty="0">
              <a:latin typeface="+mn-lt"/>
            </a:endParaRPr>
          </a:p>
        </p:txBody>
      </p:sp>
      <p:sp>
        <p:nvSpPr>
          <p:cNvPr id="14" name="TextBox 13">
            <a:extLst>
              <a:ext uri="{FF2B5EF4-FFF2-40B4-BE49-F238E27FC236}">
                <a16:creationId xmlns:a16="http://schemas.microsoft.com/office/drawing/2014/main" id="{CD33FCD4-D183-9CBC-B981-6E30781F7309}"/>
              </a:ext>
            </a:extLst>
          </p:cNvPr>
          <p:cNvSpPr txBox="1"/>
          <p:nvPr/>
        </p:nvSpPr>
        <p:spPr>
          <a:xfrm>
            <a:off x="609601" y="1341209"/>
            <a:ext cx="6096680" cy="4708981"/>
          </a:xfrm>
          <a:prstGeom prst="rect">
            <a:avLst/>
          </a:prstGeom>
          <a:noFill/>
        </p:spPr>
        <p:txBody>
          <a:bodyPr wrap="square">
            <a:spAutoFit/>
          </a:bodyPr>
          <a:lstStyle/>
          <a:p>
            <a:r>
              <a:rPr lang="en-US" sz="2000" b="1" dirty="0">
                <a:latin typeface="+mj-lt"/>
              </a:rPr>
              <a:t>1. Admin Module (Shopkeeper Module)</a:t>
            </a:r>
          </a:p>
          <a:p>
            <a:r>
              <a:rPr lang="en-US" sz="2000" dirty="0"/>
              <a:t>Allows the shopkeeper to login, add customers, record </a:t>
            </a:r>
            <a:r>
              <a:rPr lang="en-US" sz="2000" dirty="0" err="1"/>
              <a:t>udhari</a:t>
            </a:r>
            <a:r>
              <a:rPr lang="en-US" sz="2000" dirty="0"/>
              <a:t>, upload bills, and manage credit records.</a:t>
            </a:r>
          </a:p>
          <a:p>
            <a:r>
              <a:rPr lang="en-US" sz="2000" b="1" dirty="0">
                <a:latin typeface="+mj-lt"/>
              </a:rPr>
              <a:t>2. Customer Module</a:t>
            </a:r>
          </a:p>
          <a:p>
            <a:r>
              <a:rPr lang="en-US" sz="2000" dirty="0"/>
              <a:t>Allows customers to view credit records, transaction history, and raise flags for incorrect entries.</a:t>
            </a:r>
          </a:p>
          <a:p>
            <a:r>
              <a:rPr lang="en-US" sz="2000" b="1" dirty="0">
                <a:latin typeface="+mj-lt"/>
              </a:rPr>
              <a:t>3. Credit Management Module</a:t>
            </a:r>
          </a:p>
          <a:p>
            <a:r>
              <a:rPr lang="en-US" sz="2000" dirty="0"/>
              <a:t>Manages adding, updating, and storing customer credit records with date and time.</a:t>
            </a:r>
          </a:p>
          <a:p>
            <a:r>
              <a:rPr lang="en-US" sz="2000" b="1" dirty="0">
                <a:latin typeface="+mj-lt"/>
              </a:rPr>
              <a:t>4. Supplier and Billing Module</a:t>
            </a:r>
          </a:p>
          <a:p>
            <a:r>
              <a:rPr lang="en-US" sz="2000" dirty="0"/>
              <a:t>Stores supplier details and purchase bills for easy tracking and management.</a:t>
            </a:r>
          </a:p>
          <a:p>
            <a:r>
              <a:rPr lang="en-US" sz="2000" b="1" dirty="0">
                <a:latin typeface="+mj-lt"/>
              </a:rPr>
              <a:t>5. Database Module (Firebase Integration)</a:t>
            </a:r>
          </a:p>
          <a:p>
            <a:r>
              <a:rPr lang="en-US" sz="2000" dirty="0"/>
              <a:t>Securely stores all customer, credit, and billing data in Firebase cloud database</a:t>
            </a:r>
            <a:r>
              <a:rPr lang="en-US" dirty="0"/>
              <a:t>.</a:t>
            </a:r>
          </a:p>
        </p:txBody>
      </p:sp>
      <p:pic>
        <p:nvPicPr>
          <p:cNvPr id="15" name="Picture 14">
            <a:extLst>
              <a:ext uri="{FF2B5EF4-FFF2-40B4-BE49-F238E27FC236}">
                <a16:creationId xmlns:a16="http://schemas.microsoft.com/office/drawing/2014/main" id="{98B6A091-FCF5-126C-D5B6-D68D3DB27A1E}"/>
              </a:ext>
            </a:extLst>
          </p:cNvPr>
          <p:cNvPicPr>
            <a:picLocks noChangeAspect="1"/>
          </p:cNvPicPr>
          <p:nvPr/>
        </p:nvPicPr>
        <p:blipFill>
          <a:blip r:embed="rId2"/>
          <a:stretch>
            <a:fillRect/>
          </a:stretch>
        </p:blipFill>
        <p:spPr>
          <a:xfrm>
            <a:off x="6449786" y="909976"/>
            <a:ext cx="5584372" cy="5749428"/>
          </a:xfrm>
          <a:prstGeom prst="rect">
            <a:avLst/>
          </a:prstGeom>
        </p:spPr>
      </p:pic>
      <p:sp>
        <p:nvSpPr>
          <p:cNvPr id="16" name="Rectangle 15">
            <a:extLst>
              <a:ext uri="{FF2B5EF4-FFF2-40B4-BE49-F238E27FC236}">
                <a16:creationId xmlns:a16="http://schemas.microsoft.com/office/drawing/2014/main" id="{7EA0B168-89B9-96FB-8A52-2C3CFF3071F4}"/>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8" name="TextBox 17">
            <a:extLst>
              <a:ext uri="{FF2B5EF4-FFF2-40B4-BE49-F238E27FC236}">
                <a16:creationId xmlns:a16="http://schemas.microsoft.com/office/drawing/2014/main" id="{19F830FE-DAE9-A381-F12D-C5377A21F486}"/>
              </a:ext>
            </a:extLst>
          </p:cNvPr>
          <p:cNvSpPr txBox="1"/>
          <p:nvPr/>
        </p:nvSpPr>
        <p:spPr>
          <a:xfrm>
            <a:off x="6047015" y="6416836"/>
            <a:ext cx="6098720" cy="369332"/>
          </a:xfrm>
          <a:prstGeom prst="rect">
            <a:avLst/>
          </a:prstGeom>
          <a:noFill/>
        </p:spPr>
        <p:txBody>
          <a:bodyPr wrap="square">
            <a:spAutoFit/>
          </a:bodyPr>
          <a:lstStyle/>
          <a:p>
            <a:r>
              <a:rPr lang="en-US" dirty="0"/>
              <a:t>                                                                                                            </a:t>
            </a:r>
            <a:r>
              <a:rPr lang="en-US" dirty="0">
                <a:solidFill>
                  <a:schemeClr val="bg1"/>
                </a:solidFill>
              </a:rPr>
              <a:t>4</a:t>
            </a:r>
          </a:p>
        </p:txBody>
      </p:sp>
    </p:spTree>
    <p:extLst>
      <p:ext uri="{BB962C8B-B14F-4D97-AF65-F5344CB8AC3E}">
        <p14:creationId xmlns:p14="http://schemas.microsoft.com/office/powerpoint/2010/main" val="1279813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61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297A5E-244D-DAE5-7BB9-C328110AB920}"/>
              </a:ext>
            </a:extLst>
          </p:cNvPr>
          <p:cNvPicPr>
            <a:picLocks noChangeAspect="1"/>
          </p:cNvPicPr>
          <p:nvPr/>
        </p:nvPicPr>
        <p:blipFill>
          <a:blip r:embed="rId3"/>
          <a:stretch>
            <a:fillRect/>
          </a:stretch>
        </p:blipFill>
        <p:spPr>
          <a:xfrm>
            <a:off x="10363200" y="3860951"/>
            <a:ext cx="1219200" cy="2177143"/>
          </a:xfrm>
          <a:prstGeom prst="rect">
            <a:avLst/>
          </a:prstGeom>
        </p:spPr>
      </p:pic>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solidFill>
                  <a:prstClr val="white"/>
                </a:solidFill>
              </a:rPr>
              <a:t> </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31" name="Rectangle: Rounded Corners 30">
            <a:extLst>
              <a:ext uri="{FF2B5EF4-FFF2-40B4-BE49-F238E27FC236}">
                <a16:creationId xmlns:a16="http://schemas.microsoft.com/office/drawing/2014/main" id="{D0B09072-492C-4FB7-091F-506181030A3E}"/>
              </a:ext>
            </a:extLst>
          </p:cNvPr>
          <p:cNvSpPr/>
          <p:nvPr/>
        </p:nvSpPr>
        <p:spPr>
          <a:xfrm>
            <a:off x="448057" y="3867281"/>
            <a:ext cx="10012680" cy="239347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marR="0" lvl="0" algn="just" defTabSz="457200" rtl="0" eaLnBrk="1" fontAlgn="base" latinLnBrk="0" hangingPunct="1">
              <a:lnSpc>
                <a:spcPct val="100000"/>
              </a:lnSpc>
              <a:spcBef>
                <a:spcPct val="0"/>
              </a:spcBef>
              <a:spcAft>
                <a:spcPct val="0"/>
              </a:spcAft>
              <a:buClrTx/>
              <a:buSzTx/>
              <a:tabLst/>
              <a:defRPr/>
            </a:pPr>
            <a:endParaRPr lang="en-US" sz="1800" dirty="0">
              <a:solidFill>
                <a:prstClr val="black"/>
              </a:solidFill>
              <a:latin typeface="Arial" pitchFamily="34" charset="0"/>
              <a:cs typeface="Arial" pitchFamily="34" charset="0"/>
            </a:endParaRPr>
          </a:p>
        </p:txBody>
      </p:sp>
      <p:sp>
        <p:nvSpPr>
          <p:cNvPr id="32" name="Rectangle: Rounded Corners 31">
            <a:extLst>
              <a:ext uri="{FF2B5EF4-FFF2-40B4-BE49-F238E27FC236}">
                <a16:creationId xmlns:a16="http://schemas.microsoft.com/office/drawing/2014/main" id="{5A4C1649-8354-8230-D531-4EE735A78D66}"/>
              </a:ext>
            </a:extLst>
          </p:cNvPr>
          <p:cNvSpPr/>
          <p:nvPr/>
        </p:nvSpPr>
        <p:spPr>
          <a:xfrm>
            <a:off x="1802293" y="907963"/>
            <a:ext cx="9913457" cy="2641891"/>
          </a:xfrm>
          <a:prstGeom prst="roundRect">
            <a:avLst>
              <a:gd name="adj" fmla="val 11758"/>
            </a:avLst>
          </a:prstGeom>
          <a:ln/>
        </p:spPr>
        <p:style>
          <a:lnRef idx="2">
            <a:schemeClr val="accent1"/>
          </a:lnRef>
          <a:fillRef idx="1">
            <a:schemeClr val="lt1"/>
          </a:fillRef>
          <a:effectRef idx="0">
            <a:schemeClr val="accent1"/>
          </a:effectRef>
          <a:fontRef idx="minor">
            <a:schemeClr val="dk1"/>
          </a:fontRef>
        </p:style>
        <p:txBody>
          <a:bodyPr rtlCol="0" anchor="ctr"/>
          <a:lstStyle/>
          <a:p>
            <a:pPr marR="0" lvl="0" algn="just" defTabSz="457200" rtl="0" eaLnBrk="1" fontAlgn="base" latinLnBrk="0" hangingPunct="1">
              <a:lnSpc>
                <a:spcPct val="100000"/>
              </a:lnSpc>
              <a:spcBef>
                <a:spcPct val="0"/>
              </a:spcBef>
              <a:spcAft>
                <a:spcPct val="0"/>
              </a:spcAft>
              <a:buClrTx/>
              <a:buSzTx/>
              <a:tabLst/>
              <a:defRPr/>
            </a:pPr>
            <a:endParaRPr lang="en-US" b="1" dirty="0">
              <a:solidFill>
                <a:prstClr val="black"/>
              </a:solidFill>
              <a:latin typeface="Arial" pitchFamily="34" charset="0"/>
              <a:cs typeface="Arial" pitchFamily="34" charset="0"/>
            </a:endParaRPr>
          </a:p>
          <a:p>
            <a:pPr marL="342900" indent="-342900">
              <a:buFont typeface="+mj-lt"/>
              <a:buAutoNum type="arabicPeriod"/>
            </a:pPr>
            <a:endParaRPr lang="en-US" dirty="0"/>
          </a:p>
          <a:p>
            <a:pPr marR="0" lvl="0" algn="just" defTabSz="457200" rtl="0" eaLnBrk="1" fontAlgn="base" latinLnBrk="0" hangingPunct="1">
              <a:lnSpc>
                <a:spcPct val="100000"/>
              </a:lnSpc>
              <a:spcBef>
                <a:spcPct val="0"/>
              </a:spcBef>
              <a:spcAft>
                <a:spcPct val="0"/>
              </a:spcAft>
              <a:buClrTx/>
              <a:buSzTx/>
              <a:tabLst/>
              <a:defRPr/>
            </a:pPr>
            <a:endParaRPr lang="en-US" dirty="0">
              <a:solidFill>
                <a:prstClr val="black"/>
              </a:solidFill>
              <a:latin typeface="Arial" pitchFamily="34" charset="0"/>
              <a:cs typeface="Arial" pitchFamily="34" charset="0"/>
            </a:endParaRPr>
          </a:p>
        </p:txBody>
      </p:sp>
      <p:pic>
        <p:nvPicPr>
          <p:cNvPr id="11" name="Picture 10">
            <a:extLst>
              <a:ext uri="{FF2B5EF4-FFF2-40B4-BE49-F238E27FC236}">
                <a16:creationId xmlns:a16="http://schemas.microsoft.com/office/drawing/2014/main" id="{A4C043E8-C608-5CB0-FB39-4B00511E6E3D}"/>
              </a:ext>
            </a:extLst>
          </p:cNvPr>
          <p:cNvPicPr>
            <a:picLocks noChangeAspect="1"/>
          </p:cNvPicPr>
          <p:nvPr/>
        </p:nvPicPr>
        <p:blipFill>
          <a:blip r:embed="rId4"/>
          <a:stretch>
            <a:fillRect/>
          </a:stretch>
        </p:blipFill>
        <p:spPr>
          <a:xfrm>
            <a:off x="0" y="6363516"/>
            <a:ext cx="12192000" cy="530352"/>
          </a:xfrm>
          <a:prstGeom prst="rect">
            <a:avLst/>
          </a:prstGeom>
        </p:spPr>
      </p:pic>
      <p:sp>
        <p:nvSpPr>
          <p:cNvPr id="14" name="TextBox 13">
            <a:extLst>
              <a:ext uri="{FF2B5EF4-FFF2-40B4-BE49-F238E27FC236}">
                <a16:creationId xmlns:a16="http://schemas.microsoft.com/office/drawing/2014/main" id="{24224EF9-5704-14AC-3F58-E60758ECD6CB}"/>
              </a:ext>
            </a:extLst>
          </p:cNvPr>
          <p:cNvSpPr txBox="1"/>
          <p:nvPr/>
        </p:nvSpPr>
        <p:spPr>
          <a:xfrm>
            <a:off x="11715750" y="6363516"/>
            <a:ext cx="476250" cy="369332"/>
          </a:xfrm>
          <a:prstGeom prst="rect">
            <a:avLst/>
          </a:prstGeom>
          <a:noFill/>
        </p:spPr>
        <p:txBody>
          <a:bodyPr wrap="square">
            <a:spAutoFit/>
          </a:bodyPr>
          <a:lstStyle/>
          <a:p>
            <a:r>
              <a:rPr lang="en-US" b="1" dirty="0">
                <a:solidFill>
                  <a:schemeClr val="bg1"/>
                </a:solidFill>
              </a:rPr>
              <a:t>5</a:t>
            </a:r>
            <a:endParaRPr lang="en-US" dirty="0">
              <a:solidFill>
                <a:schemeClr val="bg1"/>
              </a:solidFill>
            </a:endParaRPr>
          </a:p>
        </p:txBody>
      </p:sp>
      <p:sp>
        <p:nvSpPr>
          <p:cNvPr id="4" name="TextBox 3">
            <a:extLst>
              <a:ext uri="{FF2B5EF4-FFF2-40B4-BE49-F238E27FC236}">
                <a16:creationId xmlns:a16="http://schemas.microsoft.com/office/drawing/2014/main" id="{ECDF02F0-B260-B937-8D13-8DF485F238BF}"/>
              </a:ext>
            </a:extLst>
          </p:cNvPr>
          <p:cNvSpPr txBox="1"/>
          <p:nvPr/>
        </p:nvSpPr>
        <p:spPr>
          <a:xfrm>
            <a:off x="1802294" y="982413"/>
            <a:ext cx="9780106" cy="2492990"/>
          </a:xfrm>
          <a:prstGeom prst="rect">
            <a:avLst/>
          </a:prstGeom>
          <a:noFill/>
        </p:spPr>
        <p:txBody>
          <a:bodyPr wrap="square">
            <a:spAutoFit/>
          </a:bodyPr>
          <a:lstStyle/>
          <a:p>
            <a:r>
              <a:rPr lang="en-US" sz="2400" b="1" dirty="0">
                <a:latin typeface="+mj-lt"/>
              </a:rPr>
              <a:t>Analysis of the feasibility of the idea:-</a:t>
            </a:r>
          </a:p>
          <a:p>
            <a:pPr marL="342900" indent="-342900">
              <a:buFont typeface="Arial" panose="020B0604020202020204" pitchFamily="34" charset="0"/>
              <a:buChar char="•"/>
            </a:pPr>
            <a:r>
              <a:rPr lang="en-US" sz="2400" b="1" dirty="0">
                <a:latin typeface="+mj-lt"/>
              </a:rPr>
              <a:t>Technical:</a:t>
            </a:r>
            <a:r>
              <a:rPr lang="en-US" dirty="0"/>
              <a:t> </a:t>
            </a:r>
            <a:r>
              <a:rPr lang="en-US" sz="2000" dirty="0">
                <a:latin typeface="+mn-lt"/>
              </a:rPr>
              <a:t>Uses Android application with Flutter, Dart and Firebase, easy to develop, scalable, and supports real-time data storage and access</a:t>
            </a:r>
            <a:r>
              <a:rPr lang="en-US" dirty="0"/>
              <a:t>.</a:t>
            </a:r>
          </a:p>
          <a:p>
            <a:pPr marL="342900" indent="-342900">
              <a:buFont typeface="Arial" panose="020B0604020202020204" pitchFamily="34" charset="0"/>
              <a:buChar char="•"/>
            </a:pPr>
            <a:r>
              <a:rPr lang="en-US" sz="2400" b="1" dirty="0">
                <a:latin typeface="+mj-lt"/>
              </a:rPr>
              <a:t>Economic: </a:t>
            </a:r>
            <a:r>
              <a:rPr lang="en-US" sz="2000" dirty="0">
                <a:latin typeface="+mn-lt"/>
              </a:rPr>
              <a:t>Low development and maintenance cost, uses free tools like Android Studio and Firebase, affordable for small shopkeepers.</a:t>
            </a:r>
          </a:p>
          <a:p>
            <a:pPr marL="342900" indent="-342900">
              <a:buFont typeface="Arial" panose="020B0604020202020204" pitchFamily="34" charset="0"/>
              <a:buChar char="•"/>
            </a:pPr>
            <a:r>
              <a:rPr lang="en-US" sz="2400" b="1" dirty="0">
                <a:latin typeface="+mj-lt"/>
              </a:rPr>
              <a:t>Market: </a:t>
            </a:r>
            <a:r>
              <a:rPr lang="en-US" sz="2000" dirty="0">
                <a:latin typeface="+mn-lt"/>
              </a:rPr>
              <a:t>High demand among local retail shops and grocery stores, helps replace traditional </a:t>
            </a:r>
            <a:r>
              <a:rPr lang="en-US" sz="2000" dirty="0" err="1">
                <a:latin typeface="+mn-lt"/>
              </a:rPr>
              <a:t>khata</a:t>
            </a:r>
            <a:r>
              <a:rPr lang="en-US" sz="2000" dirty="0">
                <a:latin typeface="+mn-lt"/>
              </a:rPr>
              <a:t> system with a digital and transparent solution.</a:t>
            </a:r>
          </a:p>
        </p:txBody>
      </p:sp>
      <p:sp>
        <p:nvSpPr>
          <p:cNvPr id="10" name="TextBox 9">
            <a:extLst>
              <a:ext uri="{FF2B5EF4-FFF2-40B4-BE49-F238E27FC236}">
                <a16:creationId xmlns:a16="http://schemas.microsoft.com/office/drawing/2014/main" id="{192F8FE1-EEA1-0A7E-6DE2-F896CD487FA8}"/>
              </a:ext>
            </a:extLst>
          </p:cNvPr>
          <p:cNvSpPr txBox="1"/>
          <p:nvPr/>
        </p:nvSpPr>
        <p:spPr>
          <a:xfrm>
            <a:off x="448057" y="3981409"/>
            <a:ext cx="10012679" cy="2062103"/>
          </a:xfrm>
          <a:prstGeom prst="rect">
            <a:avLst/>
          </a:prstGeom>
          <a:noFill/>
        </p:spPr>
        <p:txBody>
          <a:bodyPr wrap="square">
            <a:spAutoFit/>
          </a:bodyPr>
          <a:lstStyle/>
          <a:p>
            <a:r>
              <a:rPr lang="en-US" sz="2800" b="1" dirty="0">
                <a:latin typeface="+mj-lt"/>
              </a:rPr>
              <a:t>Strategies for Overcoming These Challenges</a:t>
            </a:r>
          </a:p>
          <a:p>
            <a:r>
              <a:rPr lang="en-US" sz="2000" dirty="0">
                <a:latin typeface="+mn-lt"/>
              </a:rPr>
              <a:t>The application will be developed step by step to ensure proper working. A simple and user-friendly design will help shopkeepers use it easily. All records will be stored safely to avoid data loss. The system will be properly tested to ensure accurate credit entries. Feedback from shopkeepers will be used to improve the system. The main focus will be on providing transparency and easy record management</a:t>
            </a:r>
            <a:r>
              <a:rPr lang="en-US" dirty="0"/>
              <a:t>.</a:t>
            </a:r>
          </a:p>
        </p:txBody>
      </p:sp>
      <p:sp>
        <p:nvSpPr>
          <p:cNvPr id="2" name="Rectangle 1">
            <a:extLst>
              <a:ext uri="{FF2B5EF4-FFF2-40B4-BE49-F238E27FC236}">
                <a16:creationId xmlns:a16="http://schemas.microsoft.com/office/drawing/2014/main" id="{0E771183-AFA5-DF20-50B9-524F4E5BF48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3" name="Picture 12">
            <a:extLst>
              <a:ext uri="{FF2B5EF4-FFF2-40B4-BE49-F238E27FC236}">
                <a16:creationId xmlns:a16="http://schemas.microsoft.com/office/drawing/2014/main" id="{FDDD2AE1-571F-2D57-A81D-F5F431D17DC5}"/>
              </a:ext>
            </a:extLst>
          </p:cNvPr>
          <p:cNvPicPr>
            <a:picLocks noChangeAspect="1"/>
          </p:cNvPicPr>
          <p:nvPr/>
        </p:nvPicPr>
        <p:blipFill>
          <a:blip r:embed="rId3"/>
          <a:stretch>
            <a:fillRect/>
          </a:stretch>
        </p:blipFill>
        <p:spPr>
          <a:xfrm>
            <a:off x="568489" y="908935"/>
            <a:ext cx="1219200" cy="2177143"/>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293914" y="1419231"/>
            <a:ext cx="6612724" cy="338554"/>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lang="en-US" sz="1600" dirty="0">
              <a:solidFill>
                <a:prstClr val="black"/>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2" name="Rectangle: Rounded Corners 1">
            <a:extLst>
              <a:ext uri="{FF2B5EF4-FFF2-40B4-BE49-F238E27FC236}">
                <a16:creationId xmlns:a16="http://schemas.microsoft.com/office/drawing/2014/main" id="{CD891C4A-C481-72C6-3B17-CF1688D5F44C}"/>
              </a:ext>
            </a:extLst>
          </p:cNvPr>
          <p:cNvSpPr/>
          <p:nvPr/>
        </p:nvSpPr>
        <p:spPr>
          <a:xfrm>
            <a:off x="722245" y="1095375"/>
            <a:ext cx="6380683" cy="4855464"/>
          </a:xfrm>
          <a:prstGeom prst="roundRect">
            <a:avLst/>
          </a:prstGeom>
          <a:ln w="28575"/>
        </p:spPr>
        <p:style>
          <a:lnRef idx="2">
            <a:schemeClr val="accent1"/>
          </a:lnRef>
          <a:fillRef idx="1">
            <a:schemeClr val="lt1"/>
          </a:fillRef>
          <a:effectRef idx="0">
            <a:schemeClr val="accent1"/>
          </a:effectRef>
          <a:fontRef idx="minor">
            <a:schemeClr val="dk1"/>
          </a:fontRef>
        </p:style>
        <p:txBody>
          <a:bodyPr rtlCol="0" anchor="ctr"/>
          <a:lstStyle/>
          <a:p>
            <a:r>
              <a:rPr lang="en-US" sz="2000" b="1" dirty="0">
                <a:latin typeface="+mj-lt"/>
              </a:rPr>
              <a:t>Potential Impact </a:t>
            </a:r>
          </a:p>
          <a:p>
            <a:pPr marL="285750" indent="-285750">
              <a:buFont typeface="Arial" panose="020B0604020202020204" pitchFamily="34" charset="0"/>
              <a:buChar char="•"/>
            </a:pPr>
            <a:r>
              <a:rPr lang="en-US" dirty="0"/>
              <a:t>Improves transparency as both shopkeeper and customer can clearly view credit records.</a:t>
            </a:r>
          </a:p>
          <a:p>
            <a:pPr marL="285750" indent="-285750">
              <a:buFont typeface="Arial" panose="020B0604020202020204" pitchFamily="34" charset="0"/>
              <a:buChar char="•"/>
            </a:pPr>
            <a:r>
              <a:rPr lang="en-US" dirty="0"/>
              <a:t>Encourages shopkeepers to move from paper registers to digital record keeping.</a:t>
            </a:r>
          </a:p>
          <a:p>
            <a:pPr marL="285750" indent="-285750">
              <a:buFont typeface="Arial" panose="020B0604020202020204" pitchFamily="34" charset="0"/>
              <a:buChar char="•"/>
            </a:pPr>
            <a:r>
              <a:rPr lang="en-US" dirty="0"/>
              <a:t>Builds trust between shopkeeper and customer by maintaining accurate and clear records.</a:t>
            </a:r>
          </a:p>
          <a:p>
            <a:endParaRPr lang="en-US" dirty="0"/>
          </a:p>
          <a:p>
            <a:r>
              <a:rPr lang="en-US" sz="2000" b="1" dirty="0">
                <a:latin typeface="+mj-lt"/>
              </a:rPr>
              <a:t>Key Benefits of the System</a:t>
            </a:r>
          </a:p>
          <a:p>
            <a:pPr marL="285750" indent="-285750">
              <a:buFont typeface="Arial" panose="020B0604020202020204" pitchFamily="34" charset="0"/>
              <a:buChar char="•"/>
            </a:pPr>
            <a:r>
              <a:rPr lang="en-US" dirty="0"/>
              <a:t>Makes it easy for shopkeepers to add, view, and manage </a:t>
            </a:r>
            <a:r>
              <a:rPr lang="en-US" dirty="0" err="1"/>
              <a:t>udhari</a:t>
            </a:r>
            <a:r>
              <a:rPr lang="en-US" dirty="0"/>
              <a:t> records.</a:t>
            </a:r>
          </a:p>
          <a:p>
            <a:pPr marL="285750" indent="-285750">
              <a:buFont typeface="Arial" panose="020B0604020202020204" pitchFamily="34" charset="0"/>
              <a:buChar char="•"/>
            </a:pPr>
            <a:r>
              <a:rPr lang="en-US" dirty="0"/>
              <a:t>Stores all credit records and bills safely, reducing risk of data loss.</a:t>
            </a:r>
          </a:p>
          <a:p>
            <a:pPr marL="285750" indent="-285750">
              <a:buFont typeface="Arial" panose="020B0604020202020204" pitchFamily="34" charset="0"/>
              <a:buChar char="•"/>
            </a:pPr>
            <a:r>
              <a:rPr lang="en-US" dirty="0"/>
              <a:t>Saves time and effort by replacing manual record keeping with a digital system.</a:t>
            </a:r>
          </a:p>
        </p:txBody>
      </p:sp>
      <p:pic>
        <p:nvPicPr>
          <p:cNvPr id="3" name="Picture 2">
            <a:extLst>
              <a:ext uri="{FF2B5EF4-FFF2-40B4-BE49-F238E27FC236}">
                <a16:creationId xmlns:a16="http://schemas.microsoft.com/office/drawing/2014/main" id="{8A42BDD3-D91B-627A-B783-FC09BE61F41C}"/>
              </a:ext>
            </a:extLst>
          </p:cNvPr>
          <p:cNvPicPr>
            <a:picLocks noChangeAspect="1"/>
          </p:cNvPicPr>
          <p:nvPr/>
        </p:nvPicPr>
        <p:blipFill>
          <a:blip r:embed="rId3"/>
          <a:stretch>
            <a:fillRect/>
          </a:stretch>
        </p:blipFill>
        <p:spPr>
          <a:xfrm>
            <a:off x="7625444" y="914400"/>
            <a:ext cx="3844310" cy="530543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997144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82752" y="1548577"/>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a:xfrm>
            <a:off x="9205686" y="6423818"/>
            <a:ext cx="2844800" cy="365125"/>
          </a:xfrm>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3" name="TextBox 2">
            <a:extLst>
              <a:ext uri="{FF2B5EF4-FFF2-40B4-BE49-F238E27FC236}">
                <a16:creationId xmlns:a16="http://schemas.microsoft.com/office/drawing/2014/main" id="{2289BA0B-F41D-B8CE-A0AF-89A2EEE844A2}"/>
              </a:ext>
            </a:extLst>
          </p:cNvPr>
          <p:cNvSpPr txBox="1"/>
          <p:nvPr/>
        </p:nvSpPr>
        <p:spPr>
          <a:xfrm>
            <a:off x="719328" y="2389924"/>
            <a:ext cx="10975848" cy="2031325"/>
          </a:xfrm>
          <a:prstGeom prst="rect">
            <a:avLst/>
          </a:prstGeom>
          <a:noFill/>
        </p:spPr>
        <p:txBody>
          <a:bodyPr wrap="square">
            <a:spAutoFit/>
          </a:bodyPr>
          <a:lstStyle/>
          <a:p>
            <a:pPr>
              <a:buFont typeface="Arial" panose="020B0604020202020204" pitchFamily="34" charset="0"/>
              <a:buChar char="•"/>
            </a:pPr>
            <a:r>
              <a:rPr lang="en-IN" b="1" dirty="0"/>
              <a:t>References: </a:t>
            </a:r>
          </a:p>
          <a:p>
            <a:r>
              <a:rPr lang="en-US" b="1" dirty="0"/>
              <a:t>1. Research on Digital Transformation of Kirana Stores</a:t>
            </a:r>
            <a:r>
              <a:rPr lang="en-US" dirty="0"/>
              <a:t> </a:t>
            </a:r>
            <a:r>
              <a:rPr lang="en-US" dirty="0">
                <a:hlinkClick r:id="rId4"/>
              </a:rPr>
              <a:t>https://www.researchgate.net/publication/400100801_KIRANA_40_Measuring_the_Impact_of_Phygital_Transformation_of_Small_Retailers_on_BOP_Consumer_Behaviour</a:t>
            </a:r>
            <a:br>
              <a:rPr lang="en-US" dirty="0"/>
            </a:br>
            <a:r>
              <a:rPr lang="en-US" dirty="0"/>
              <a:t>This research shows that digital systems improve customer trust, satisfaction, and overall retail efficiency in </a:t>
            </a:r>
            <a:r>
              <a:rPr lang="en-US" dirty="0" err="1"/>
              <a:t>kirana</a:t>
            </a:r>
            <a:r>
              <a:rPr lang="en-US" dirty="0"/>
              <a:t> stores. </a:t>
            </a:r>
          </a:p>
          <a:p>
            <a:endParaRPr lang="en-US" dirty="0"/>
          </a:p>
        </p:txBody>
      </p:sp>
    </p:spTree>
    <p:extLst>
      <p:ext uri="{BB962C8B-B14F-4D97-AF65-F5344CB8AC3E}">
        <p14:creationId xmlns:p14="http://schemas.microsoft.com/office/powerpoint/2010/main" val="3916788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848F68D1-D2C1-2121-E585-B91488D9E42F}"/>
              </a:ext>
            </a:extLst>
          </p:cNvPr>
          <p:cNvSpPr/>
          <p:nvPr/>
        </p:nvSpPr>
        <p:spPr>
          <a:xfrm>
            <a:off x="1546865" y="1322434"/>
            <a:ext cx="9445752" cy="427024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6D9621D8-9BA8-E679-ED9E-E64DC46E0025}"/>
              </a:ext>
            </a:extLst>
          </p:cNvPr>
          <p:cNvSpPr/>
          <p:nvPr/>
        </p:nvSpPr>
        <p:spPr>
          <a:xfrm>
            <a:off x="3311152" y="2536821"/>
            <a:ext cx="5569696" cy="1015663"/>
          </a:xfrm>
          <a:prstGeom prst="rect">
            <a:avLst/>
          </a:prstGeom>
          <a:noFill/>
        </p:spPr>
        <p:txBody>
          <a:bodyPr wrap="square" lIns="91440" tIns="45720" rIns="91440" bIns="45720">
            <a:spAutoFit/>
          </a:bodyPr>
          <a:lstStyle/>
          <a:p>
            <a:pPr algn="ctr"/>
            <a:r>
              <a:rPr lang="en-US" sz="6000" b="1" dirty="0">
                <a:ln w="0"/>
                <a:solidFill>
                  <a:schemeClr val="accent1"/>
                </a:solidFill>
                <a:effectLst>
                  <a:outerShdw blurRad="38100" dist="25400" dir="5400000" algn="ctr" rotWithShape="0">
                    <a:srgbClr val="6E747A">
                      <a:alpha val="43000"/>
                    </a:srgbClr>
                  </a:outerShdw>
                </a:effectLst>
              </a:rPr>
              <a:t>THANK YOU !! </a:t>
            </a:r>
          </a:p>
        </p:txBody>
      </p:sp>
      <p:sp>
        <p:nvSpPr>
          <p:cNvPr id="7" name="Rectangle 6">
            <a:extLst>
              <a:ext uri="{FF2B5EF4-FFF2-40B4-BE49-F238E27FC236}">
                <a16:creationId xmlns:a16="http://schemas.microsoft.com/office/drawing/2014/main" id="{9291A00C-5D9C-D8E3-6AB9-35915039167C}"/>
              </a:ext>
            </a:extLst>
          </p:cNvPr>
          <p:cNvSpPr/>
          <p:nvPr/>
        </p:nvSpPr>
        <p:spPr>
          <a:xfrm>
            <a:off x="2196125" y="3556919"/>
            <a:ext cx="8147231" cy="1015663"/>
          </a:xfrm>
          <a:prstGeom prst="rect">
            <a:avLst/>
          </a:prstGeom>
          <a:noFill/>
        </p:spPr>
        <p:txBody>
          <a:bodyPr wrap="none" lIns="91440" tIns="45720" rIns="91440" bIns="45720">
            <a:spAutoFit/>
          </a:bodyPr>
          <a:lstStyle/>
          <a:p>
            <a:pPr algn="ctr"/>
            <a:r>
              <a:rPr lang="en-US" sz="6000" b="1" cap="none" spc="0" dirty="0">
                <a:ln w="22225">
                  <a:solidFill>
                    <a:schemeClr val="accent2"/>
                  </a:solidFill>
                  <a:prstDash val="solid"/>
                </a:ln>
                <a:solidFill>
                  <a:schemeClr val="accent2">
                    <a:lumMod val="40000"/>
                    <a:lumOff val="60000"/>
                  </a:schemeClr>
                </a:solidFill>
                <a:effectLst/>
              </a:rPr>
              <a:t>WELCOME QUESTION ?? </a:t>
            </a:r>
          </a:p>
        </p:txBody>
      </p:sp>
      <p:sp>
        <p:nvSpPr>
          <p:cNvPr id="2" name="Rectangle 1">
            <a:extLst>
              <a:ext uri="{FF2B5EF4-FFF2-40B4-BE49-F238E27FC236}">
                <a16:creationId xmlns:a16="http://schemas.microsoft.com/office/drawing/2014/main" id="{90AB5583-A8F1-F710-6520-EF11F0A22F53}"/>
              </a:ext>
            </a:extLst>
          </p:cNvPr>
          <p:cNvSpPr>
            <a:spLocks noChangeArrowheads="1"/>
          </p:cNvSpPr>
          <p:nvPr/>
        </p:nvSpPr>
        <p:spPr bwMode="auto">
          <a:xfrm>
            <a:off x="1" y="6356353"/>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9" name="TextBox 8">
            <a:extLst>
              <a:ext uri="{FF2B5EF4-FFF2-40B4-BE49-F238E27FC236}">
                <a16:creationId xmlns:a16="http://schemas.microsoft.com/office/drawing/2014/main" id="{0B5F0970-FBA6-6E3F-D4C6-33CC215CB60C}"/>
              </a:ext>
            </a:extLst>
          </p:cNvPr>
          <p:cNvSpPr txBox="1"/>
          <p:nvPr/>
        </p:nvSpPr>
        <p:spPr>
          <a:xfrm>
            <a:off x="6093279" y="6437735"/>
            <a:ext cx="6098720" cy="369332"/>
          </a:xfrm>
          <a:prstGeom prst="rect">
            <a:avLst/>
          </a:prstGeom>
          <a:noFill/>
        </p:spPr>
        <p:txBody>
          <a:bodyPr wrap="square">
            <a:spAutoFit/>
          </a:bodyPr>
          <a:lstStyle/>
          <a:p>
            <a:r>
              <a:rPr lang="en-US" dirty="0"/>
              <a:t>                                                                                                            </a:t>
            </a:r>
            <a:r>
              <a:rPr lang="en-US" dirty="0">
                <a:solidFill>
                  <a:schemeClr val="bg1"/>
                </a:solidFill>
              </a:rPr>
              <a:t>8</a:t>
            </a:r>
          </a:p>
        </p:txBody>
      </p:sp>
    </p:spTree>
    <p:extLst>
      <p:ext uri="{BB962C8B-B14F-4D97-AF65-F5344CB8AC3E}">
        <p14:creationId xmlns:p14="http://schemas.microsoft.com/office/powerpoint/2010/main" val="1084083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Facet</Template>
  <TotalTime>8633</TotalTime>
  <Words>710</Words>
  <Application>Microsoft Office PowerPoint</Application>
  <PresentationFormat>Widescreen</PresentationFormat>
  <Paragraphs>83</Paragraphs>
  <Slides>8</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ＭＳ Ｐゴシック</vt:lpstr>
      <vt:lpstr>Arial</vt:lpstr>
      <vt:lpstr>Barlow Bold</vt:lpstr>
      <vt:lpstr>Calibri</vt:lpstr>
      <vt:lpstr>Garamond</vt:lpstr>
      <vt:lpstr>Montserrat</vt:lpstr>
      <vt:lpstr>Times New Roman</vt:lpstr>
      <vt:lpstr>TradeGothic</vt:lpstr>
      <vt:lpstr>Wingdings</vt:lpstr>
      <vt:lpstr>Office Theme</vt:lpstr>
      <vt:lpstr>PowerPoint Presentation</vt:lpstr>
      <vt:lpstr>                                          Digital Credit Transparency System</vt:lpstr>
      <vt:lpstr>PowerPoint Presentation</vt:lpstr>
      <vt:lpstr>  Modules Used in the Project </vt:lpstr>
      <vt:lpstr>FEASIBILITY AND VIABILITY</vt:lpstr>
      <vt:lpstr>IMPACT AND BENEFITS</vt:lpstr>
      <vt:lpstr>RESEARCH  AND REFERENCES</vt:lpstr>
      <vt:lpstr>PowerPoint Presentation</vt:lpstr>
    </vt:vector>
  </TitlesOfParts>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creator>Crowdfunder</dc:creator>
  <cp:lastModifiedBy>Shruti Tiwari</cp:lastModifiedBy>
  <cp:revision>172</cp:revision>
  <dcterms:created xsi:type="dcterms:W3CDTF">2013-12-12T18:46:50Z</dcterms:created>
  <dcterms:modified xsi:type="dcterms:W3CDTF">2026-05-06T04:53:50Z</dcterms:modified>
</cp:coreProperties>
</file>